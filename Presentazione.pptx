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</p:sldIdLst>
  <p:sldSz cx="9144000" cy="5143500" type="screen16x9"/>
  <p:notesSz cx="6858000" cy="9144000"/>
  <p:embeddedFontLst>
    <p:embeddedFont>
      <p:font typeface="Poppins" panose="00000500000000000000" pitchFamily="2" charset="0"/>
      <p:regular r:id="rId10"/>
      <p:bold r:id="rId11"/>
      <p:italic r:id="rId12"/>
      <p:boldItalic r:id="rId13"/>
    </p:embeddedFont>
    <p:embeddedFont>
      <p:font typeface="PT Sans" panose="020B0503020203020204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309" userDrawn="1">
          <p15:clr>
            <a:srgbClr val="747775"/>
          </p15:clr>
        </p15:guide>
        <p15:guide id="4" pos="1451" userDrawn="1">
          <p15:clr>
            <a:srgbClr val="747775"/>
          </p15:clr>
        </p15:guide>
        <p15:guide id="5" orient="horz" pos="2482" userDrawn="1">
          <p15:clr>
            <a:srgbClr val="747775"/>
          </p15:clr>
        </p15:guide>
        <p15:guide id="6" orient="horz" pos="781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8C564BB-C33D-4E2A-937F-36228857C545}">
  <a:tblStyle styleId="{E8C564BB-C33D-4E2A-937F-36228857C54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92436DE-1F3E-4417-BF4E-1D475336D13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585" autoAdjust="0"/>
  </p:normalViewPr>
  <p:slideViewPr>
    <p:cSldViewPr snapToGrid="0">
      <p:cViewPr varScale="1">
        <p:scale>
          <a:sx n="79" d="100"/>
          <a:sy n="79" d="100"/>
        </p:scale>
        <p:origin x="1570" y="67"/>
      </p:cViewPr>
      <p:guideLst>
        <p:guide orient="horz" pos="1620"/>
        <p:guide pos="2880"/>
        <p:guide pos="4309"/>
        <p:guide pos="1451"/>
        <p:guide orient="horz" pos="2482"/>
        <p:guide orient="horz" pos="7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37592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46900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37591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46899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37592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46900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280600" y="1699100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280600" y="2781762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280600" y="386442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5575300" y="1699096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5575300" y="2781754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5575300" y="386441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7"/>
          <p:cNvSpPr txBox="1">
            <a:spLocks noGrp="1"/>
          </p:cNvSpPr>
          <p:nvPr>
            <p:ph type="title"/>
          </p:nvPr>
        </p:nvSpPr>
        <p:spPr>
          <a:xfrm>
            <a:off x="720000" y="53849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7"/>
          <p:cNvSpPr txBox="1">
            <a:spLocks noGrp="1"/>
          </p:cNvSpPr>
          <p:nvPr>
            <p:ph type="subTitle" idx="1"/>
          </p:nvPr>
        </p:nvSpPr>
        <p:spPr>
          <a:xfrm>
            <a:off x="709750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17"/>
          <p:cNvSpPr txBox="1">
            <a:spLocks noGrp="1"/>
          </p:cNvSpPr>
          <p:nvPr>
            <p:ph type="subTitle" idx="2"/>
          </p:nvPr>
        </p:nvSpPr>
        <p:spPr>
          <a:xfrm>
            <a:off x="3457413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17"/>
          <p:cNvSpPr txBox="1">
            <a:spLocks noGrp="1"/>
          </p:cNvSpPr>
          <p:nvPr>
            <p:ph type="subTitle" idx="3"/>
          </p:nvPr>
        </p:nvSpPr>
        <p:spPr>
          <a:xfrm>
            <a:off x="6205076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subTitle" idx="4"/>
          </p:nvPr>
        </p:nvSpPr>
        <p:spPr>
          <a:xfrm>
            <a:off x="709758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58" name="Google Shape;158;p17"/>
          <p:cNvSpPr txBox="1">
            <a:spLocks noGrp="1"/>
          </p:cNvSpPr>
          <p:nvPr>
            <p:ph type="subTitle" idx="5"/>
          </p:nvPr>
        </p:nvSpPr>
        <p:spPr>
          <a:xfrm>
            <a:off x="3459159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59" name="Google Shape;159;p17"/>
          <p:cNvSpPr txBox="1">
            <a:spLocks noGrp="1"/>
          </p:cNvSpPr>
          <p:nvPr>
            <p:ph type="subTitle" idx="6"/>
          </p:nvPr>
        </p:nvSpPr>
        <p:spPr>
          <a:xfrm>
            <a:off x="6205085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pic>
        <p:nvPicPr>
          <p:cNvPr id="160" name="Google Shape;16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17120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1" name="Google Shape;161;p17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62" name="Google Shape;162;p1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3" name="Google Shape;163;p1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8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18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73" name="Google Shape;173;p18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74" name="Google Shape;174;p18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75" name="Google Shape;175;p18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76" name="Google Shape;176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" name="Google Shape;178;p18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179" name="Google Shape;17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" name="Google Shape;180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9"/>
          <p:cNvSpPr txBox="1">
            <a:spLocks noGrp="1"/>
          </p:cNvSpPr>
          <p:nvPr>
            <p:ph type="subTitle" idx="1"/>
          </p:nvPr>
        </p:nvSpPr>
        <p:spPr>
          <a:xfrm>
            <a:off x="720075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9"/>
          <p:cNvSpPr txBox="1">
            <a:spLocks noGrp="1"/>
          </p:cNvSpPr>
          <p:nvPr>
            <p:ph type="subTitle" idx="2"/>
          </p:nvPr>
        </p:nvSpPr>
        <p:spPr>
          <a:xfrm>
            <a:off x="3393880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9"/>
          <p:cNvSpPr txBox="1">
            <a:spLocks noGrp="1"/>
          </p:cNvSpPr>
          <p:nvPr>
            <p:ph type="subTitle" idx="3"/>
          </p:nvPr>
        </p:nvSpPr>
        <p:spPr>
          <a:xfrm>
            <a:off x="720075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19"/>
          <p:cNvSpPr txBox="1">
            <a:spLocks noGrp="1"/>
          </p:cNvSpPr>
          <p:nvPr>
            <p:ph type="subTitle" idx="4"/>
          </p:nvPr>
        </p:nvSpPr>
        <p:spPr>
          <a:xfrm>
            <a:off x="3393880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9"/>
          <p:cNvSpPr txBox="1">
            <a:spLocks noGrp="1"/>
          </p:cNvSpPr>
          <p:nvPr>
            <p:ph type="subTitle" idx="5"/>
          </p:nvPr>
        </p:nvSpPr>
        <p:spPr>
          <a:xfrm>
            <a:off x="6067686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19"/>
          <p:cNvSpPr txBox="1">
            <a:spLocks noGrp="1"/>
          </p:cNvSpPr>
          <p:nvPr>
            <p:ph type="subTitle" idx="6"/>
          </p:nvPr>
        </p:nvSpPr>
        <p:spPr>
          <a:xfrm>
            <a:off x="6067686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19"/>
          <p:cNvSpPr txBox="1">
            <a:spLocks noGrp="1"/>
          </p:cNvSpPr>
          <p:nvPr>
            <p:ph type="subTitle" idx="7"/>
          </p:nvPr>
        </p:nvSpPr>
        <p:spPr>
          <a:xfrm>
            <a:off x="720075" y="1426464"/>
            <a:ext cx="2363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1" name="Google Shape;191;p19"/>
          <p:cNvSpPr txBox="1">
            <a:spLocks noGrp="1"/>
          </p:cNvSpPr>
          <p:nvPr>
            <p:ph type="subTitle" idx="8"/>
          </p:nvPr>
        </p:nvSpPr>
        <p:spPr>
          <a:xfrm>
            <a:off x="3395380" y="1426464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2" name="Google Shape;192;p19"/>
          <p:cNvSpPr txBox="1">
            <a:spLocks noGrp="1"/>
          </p:cNvSpPr>
          <p:nvPr>
            <p:ph type="subTitle" idx="9"/>
          </p:nvPr>
        </p:nvSpPr>
        <p:spPr>
          <a:xfrm>
            <a:off x="6067686" y="1426464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3" name="Google Shape;193;p19"/>
          <p:cNvSpPr txBox="1">
            <a:spLocks noGrp="1"/>
          </p:cNvSpPr>
          <p:nvPr>
            <p:ph type="subTitle" idx="13"/>
          </p:nvPr>
        </p:nvSpPr>
        <p:spPr>
          <a:xfrm>
            <a:off x="720075" y="3145536"/>
            <a:ext cx="2363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19"/>
          <p:cNvSpPr txBox="1">
            <a:spLocks noGrp="1"/>
          </p:cNvSpPr>
          <p:nvPr>
            <p:ph type="subTitle" idx="14"/>
          </p:nvPr>
        </p:nvSpPr>
        <p:spPr>
          <a:xfrm>
            <a:off x="3393880" y="3145541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19"/>
          <p:cNvSpPr txBox="1">
            <a:spLocks noGrp="1"/>
          </p:cNvSpPr>
          <p:nvPr>
            <p:ph type="subTitle" idx="15"/>
          </p:nvPr>
        </p:nvSpPr>
        <p:spPr>
          <a:xfrm>
            <a:off x="6067686" y="3145541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pic>
        <p:nvPicPr>
          <p:cNvPr id="196" name="Google Shape;196;p19"/>
          <p:cNvPicPr preferRelativeResize="0"/>
          <p:nvPr/>
        </p:nvPicPr>
        <p:blipFill rotWithShape="1">
          <a:blip r:embed="rId3">
            <a:alphaModFix/>
          </a:blip>
          <a:srcRect l="68148" b="22414"/>
          <a:stretch/>
        </p:blipFill>
        <p:spPr>
          <a:xfrm rot="10800000">
            <a:off x="8580849" y="64376"/>
            <a:ext cx="563126" cy="1047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1712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>
            <a:spLocks noGrp="1"/>
          </p:cNvSpPr>
          <p:nvPr>
            <p:ph type="title" hasCustomPrompt="1"/>
          </p:nvPr>
        </p:nvSpPr>
        <p:spPr>
          <a:xfrm>
            <a:off x="3099888" y="2045129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1" name="Google Shape;201;p20"/>
          <p:cNvSpPr txBox="1">
            <a:spLocks noGrp="1"/>
          </p:cNvSpPr>
          <p:nvPr>
            <p:ph type="subTitle" idx="1"/>
          </p:nvPr>
        </p:nvSpPr>
        <p:spPr>
          <a:xfrm>
            <a:off x="3099898" y="2737825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02" name="Google Shape;202;p20"/>
          <p:cNvSpPr txBox="1">
            <a:spLocks noGrp="1"/>
          </p:cNvSpPr>
          <p:nvPr>
            <p:ph type="title" idx="2" hasCustomPrompt="1"/>
          </p:nvPr>
        </p:nvSpPr>
        <p:spPr>
          <a:xfrm>
            <a:off x="3099904" y="669938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20"/>
          <p:cNvSpPr txBox="1">
            <a:spLocks noGrp="1"/>
          </p:cNvSpPr>
          <p:nvPr>
            <p:ph type="subTitle" idx="3"/>
          </p:nvPr>
        </p:nvSpPr>
        <p:spPr>
          <a:xfrm>
            <a:off x="3099904" y="1362646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04" name="Google Shape;204;p20"/>
          <p:cNvSpPr txBox="1">
            <a:spLocks noGrp="1"/>
          </p:cNvSpPr>
          <p:nvPr>
            <p:ph type="title" idx="4" hasCustomPrompt="1"/>
          </p:nvPr>
        </p:nvSpPr>
        <p:spPr>
          <a:xfrm>
            <a:off x="3099896" y="3420317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20"/>
          <p:cNvSpPr txBox="1">
            <a:spLocks noGrp="1"/>
          </p:cNvSpPr>
          <p:nvPr>
            <p:ph type="subTitle" idx="5"/>
          </p:nvPr>
        </p:nvSpPr>
        <p:spPr>
          <a:xfrm>
            <a:off x="3099906" y="4113013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grpSp>
        <p:nvGrpSpPr>
          <p:cNvPr id="206" name="Google Shape;206;p20"/>
          <p:cNvGrpSpPr/>
          <p:nvPr/>
        </p:nvGrpSpPr>
        <p:grpSpPr>
          <a:xfrm>
            <a:off x="0" y="0"/>
            <a:ext cx="9149044" cy="5153909"/>
            <a:chOff x="0" y="0"/>
            <a:chExt cx="9149044" cy="5153909"/>
          </a:xfrm>
        </p:grpSpPr>
        <p:grpSp>
          <p:nvGrpSpPr>
            <p:cNvPr id="207" name="Google Shape;207;p20"/>
            <p:cNvGrpSpPr/>
            <p:nvPr/>
          </p:nvGrpSpPr>
          <p:grpSpPr>
            <a:xfrm>
              <a:off x="2633519" y="4796608"/>
              <a:ext cx="6515525" cy="357300"/>
              <a:chOff x="2633519" y="4796608"/>
              <a:chExt cx="6515525" cy="357300"/>
            </a:xfrm>
          </p:grpSpPr>
          <p:pic>
            <p:nvPicPr>
              <p:cNvPr id="208" name="Google Shape;208;p20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33519" y="4796608"/>
                <a:ext cx="6515525" cy="3573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9" name="Google Shape;209;p20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9407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10" name="Google Shape;210;p20"/>
            <p:cNvGrpSpPr/>
            <p:nvPr/>
          </p:nvGrpSpPr>
          <p:grpSpPr>
            <a:xfrm>
              <a:off x="0" y="0"/>
              <a:ext cx="6523526" cy="359400"/>
              <a:chOff x="0" y="0"/>
              <a:chExt cx="6523526" cy="359400"/>
            </a:xfrm>
          </p:grpSpPr>
          <p:pic>
            <p:nvPicPr>
              <p:cNvPr id="211" name="Google Shape;211;p2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2" name="Google Shape;212;p20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13" name="Google Shape;213;p20"/>
          <p:cNvPicPr preferRelativeResize="0"/>
          <p:nvPr/>
        </p:nvPicPr>
        <p:blipFill rotWithShape="1">
          <a:blip r:embed="rId6">
            <a:alphaModFix/>
          </a:blip>
          <a:srcRect t="129" b="129"/>
          <a:stretch/>
        </p:blipFill>
        <p:spPr>
          <a:xfrm rot="5400000">
            <a:off x="-128174" y="3562553"/>
            <a:ext cx="1716695" cy="1307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17" name="Google Shape;217;p21"/>
          <p:cNvGrpSpPr/>
          <p:nvPr/>
        </p:nvGrpSpPr>
        <p:grpSpPr>
          <a:xfrm>
            <a:off x="0" y="0"/>
            <a:ext cx="6523526" cy="369900"/>
            <a:chOff x="0" y="0"/>
            <a:chExt cx="6523526" cy="369900"/>
          </a:xfrm>
        </p:grpSpPr>
        <p:pic>
          <p:nvPicPr>
            <p:cNvPr id="218" name="Google Shape;218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9" name="Google Shape;219;p2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0" name="Google Shape;220;p21"/>
          <p:cNvGrpSpPr/>
          <p:nvPr/>
        </p:nvGrpSpPr>
        <p:grpSpPr>
          <a:xfrm>
            <a:off x="0" y="0"/>
            <a:ext cx="9144000" cy="5143512"/>
            <a:chOff x="0" y="0"/>
            <a:chExt cx="9144000" cy="5143512"/>
          </a:xfrm>
        </p:grpSpPr>
        <p:pic>
          <p:nvPicPr>
            <p:cNvPr id="221" name="Google Shape;221;p2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2" name="Google Shape;222;p2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8"/>
          <p:cNvPicPr preferRelativeResize="0"/>
          <p:nvPr/>
        </p:nvPicPr>
        <p:blipFill rotWithShape="1">
          <a:blip r:embed="rId3">
            <a:alphaModFix/>
          </a:blip>
          <a:srcRect t="129" b="129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3" name="Google Shape;283;p28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284" name="Google Shape;284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85" name="Google Shape;285;p28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286" name="Google Shape;286;p28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87" name="Google Shape;287;p28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9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8632789" y="38875"/>
            <a:ext cx="452574" cy="13079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1" name="Google Shape;291;p29"/>
          <p:cNvGrpSpPr/>
          <p:nvPr/>
        </p:nvGrpSpPr>
        <p:grpSpPr>
          <a:xfrm>
            <a:off x="-26" y="-20456"/>
            <a:ext cx="972776" cy="5162894"/>
            <a:chOff x="-26" y="-20456"/>
            <a:chExt cx="972776" cy="5162894"/>
          </a:xfrm>
        </p:grpSpPr>
        <p:pic>
          <p:nvPicPr>
            <p:cNvPr id="292" name="Google Shape;292;p2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flipH="1">
              <a:off x="-25" y="-20456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3" name="Google Shape;293;p2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26" y="416966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4" name="Google Shape;294;p29"/>
          <p:cNvGrpSpPr/>
          <p:nvPr/>
        </p:nvGrpSpPr>
        <p:grpSpPr>
          <a:xfrm rot="10800000">
            <a:off x="5368113" y="4784100"/>
            <a:ext cx="3789523" cy="359400"/>
            <a:chOff x="-13638" y="0"/>
            <a:chExt cx="3789523" cy="359400"/>
          </a:xfrm>
        </p:grpSpPr>
        <p:pic>
          <p:nvPicPr>
            <p:cNvPr id="295" name="Google Shape;295;p2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-13638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6" name="Google Shape;296;p2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  <p:sldLayoutId id="2147483659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74" r:id="rId12"/>
    <p:sldLayoutId id="2147483675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3"/>
          <p:cNvSpPr txBox="1">
            <a:spLocks noGrp="1"/>
          </p:cNvSpPr>
          <p:nvPr>
            <p:ph type="ctrTitle"/>
          </p:nvPr>
        </p:nvSpPr>
        <p:spPr>
          <a:xfrm>
            <a:off x="959063" y="1200307"/>
            <a:ext cx="7583505" cy="152520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ATTIVITA’ PROGETTUALE – FONDAMENTI DI INTELLIGENZA ARTIFICIALE 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1">
            <a:extLst>
              <a:ext uri="{FF2B5EF4-FFF2-40B4-BE49-F238E27FC236}">
                <a16:creationId xmlns:a16="http://schemas.microsoft.com/office/drawing/2014/main" id="{840C7BFA-834F-874A-90AD-CF659F710CEC}"/>
              </a:ext>
            </a:extLst>
          </p:cNvPr>
          <p:cNvSpPr txBox="1"/>
          <p:nvPr/>
        </p:nvSpPr>
        <p:spPr>
          <a:xfrm>
            <a:off x="4162604" y="3180588"/>
            <a:ext cx="1793188" cy="243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  <a:buClrTx/>
              <a:buFontTx/>
              <a:buNone/>
            </a:pPr>
            <a:r>
              <a:rPr lang="en-US" sz="1200" kern="1200" dirty="0">
                <a:latin typeface="Times New Roman" panose="02020603050405020304" pitchFamily="18" charset="0"/>
                <a:ea typeface="Alegreya Sans"/>
                <a:cs typeface="Times New Roman" panose="02020603050405020304" pitchFamily="18" charset="0"/>
                <a:sym typeface="Alegreya Sans"/>
              </a:rPr>
              <a:t>Luca Marongiu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4"/>
          <p:cNvSpPr txBox="1">
            <a:spLocks noGrp="1"/>
          </p:cNvSpPr>
          <p:nvPr>
            <p:ph type="title"/>
          </p:nvPr>
        </p:nvSpPr>
        <p:spPr>
          <a:xfrm>
            <a:off x="2083663" y="478153"/>
            <a:ext cx="4976674" cy="9779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Obiettivi del progetto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342;p36">
            <a:extLst>
              <a:ext uri="{FF2B5EF4-FFF2-40B4-BE49-F238E27FC236}">
                <a16:creationId xmlns:a16="http://schemas.microsoft.com/office/drawing/2014/main" id="{CE953934-E4DD-AAB5-B743-E5099B86A14A}"/>
              </a:ext>
            </a:extLst>
          </p:cNvPr>
          <p:cNvSpPr txBox="1">
            <a:spLocks/>
          </p:cNvSpPr>
          <p:nvPr/>
        </p:nvSpPr>
        <p:spPr>
          <a:xfrm>
            <a:off x="1967399" y="1239838"/>
            <a:ext cx="5610447" cy="35364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ts val="1100"/>
            </a:pPr>
            <a:endParaRPr lang="en-US" sz="1100" dirty="0"/>
          </a:p>
          <a:p>
            <a:pPr>
              <a:buClr>
                <a:schemeClr val="dk1"/>
              </a:buClr>
              <a:buSzPts val="1100"/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Scopo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analizzare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confrontare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diversi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paradigmi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risoluzione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automatica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 Sudoku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Domande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chiave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>
              <a:buClr>
                <a:schemeClr val="dk1"/>
              </a:buClr>
              <a:buSzPts val="1100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chemeClr val="dk1"/>
              </a:buClr>
              <a:buSzPts val="1100"/>
            </a:pPr>
            <a:r>
              <a:rPr lang="it-IT" sz="1600" dirty="0"/>
              <a:t>•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incidono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differenze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CSP, DLX e CP – SAT? </a:t>
            </a:r>
          </a:p>
          <a:p>
            <a:pPr>
              <a:buClr>
                <a:schemeClr val="dk1"/>
              </a:buClr>
              <a:buSzPts val="1100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chemeClr val="dk1"/>
              </a:buClr>
              <a:buSzPts val="1100"/>
            </a:pPr>
            <a:r>
              <a:rPr lang="it-IT" sz="1600" dirty="0"/>
              <a:t>•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difficolta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logica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 puzzle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corrisponde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alla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difficoltà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computazionale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 </a:t>
            </a:r>
          </a:p>
          <a:p>
            <a:pPr>
              <a:buClr>
                <a:schemeClr val="dk1"/>
              </a:buClr>
              <a:buSzPts val="1100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chemeClr val="dk1"/>
              </a:buClr>
              <a:buSzPts val="1100"/>
            </a:pPr>
            <a:r>
              <a:rPr lang="it-IT" sz="1600" dirty="0"/>
              <a:t>•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 solver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risultano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piu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efficienti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 </a:t>
            </a:r>
          </a:p>
          <a:p>
            <a:pPr>
              <a:buClr>
                <a:schemeClr val="dk1"/>
              </a:buClr>
              <a:buSzPts val="1100"/>
            </a:pP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lvl="4">
              <a:buClr>
                <a:schemeClr val="dk1"/>
              </a:buClr>
              <a:buSzPts val="1100"/>
            </a:pPr>
            <a:endParaRPr lang="en-US" b="1" dirty="0"/>
          </a:p>
          <a:p>
            <a:pPr lvl="3">
              <a:buClr>
                <a:schemeClr val="dk1"/>
              </a:buClr>
              <a:buSzPts val="1100"/>
            </a:pPr>
            <a:r>
              <a:rPr lang="en-US" dirty="0"/>
              <a:t>	</a:t>
            </a:r>
          </a:p>
          <a:p>
            <a:pPr marL="285750" lvl="8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Clr>
                <a:schemeClr val="dk1"/>
              </a:buClr>
              <a:buSzPts val="1100"/>
            </a:pPr>
            <a:r>
              <a:rPr lang="en-US" dirty="0"/>
              <a:t>	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5"/>
          <p:cNvSpPr txBox="1">
            <a:spLocks noGrp="1"/>
          </p:cNvSpPr>
          <p:nvPr>
            <p:ph type="title"/>
          </p:nvPr>
        </p:nvSpPr>
        <p:spPr>
          <a:xfrm>
            <a:off x="499832" y="351638"/>
            <a:ext cx="8144336" cy="10214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Stato dell’arte e fondamenti teorici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322;p35">
            <a:extLst>
              <a:ext uri="{FF2B5EF4-FFF2-40B4-BE49-F238E27FC236}">
                <a16:creationId xmlns:a16="http://schemas.microsoft.com/office/drawing/2014/main" id="{2B75E73D-9CCD-495E-D1C2-C7DC587D3118}"/>
              </a:ext>
            </a:extLst>
          </p:cNvPr>
          <p:cNvSpPr txBox="1">
            <a:spLocks/>
          </p:cNvSpPr>
          <p:nvPr/>
        </p:nvSpPr>
        <p:spPr>
          <a:xfrm>
            <a:off x="1921212" y="1079705"/>
            <a:ext cx="5301575" cy="286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lang="it-IT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🧩 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Sudoku come problema di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Constraint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Satisfaction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(CSP):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Ogni cella è una variabile con dominio {1..9}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Vincoli: righe, colonne e box 3×3</a:t>
            </a:r>
          </a:p>
          <a:p>
            <a:pPr>
              <a:defRPr sz="2000"/>
            </a:pPr>
            <a:endParaRPr lang="it-IT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📖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Pelánek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(2014): la difficoltà dipende dalle scelte non deterministiche, non dal numero di celle vuote</a:t>
            </a:r>
          </a:p>
          <a:p>
            <a:pPr>
              <a:defRPr sz="2000"/>
            </a:pPr>
            <a:endParaRPr lang="it-IT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🔢 McGuire et al. (2012): minimo 17 indizi per un Sudoku con soluzione unica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22;p35">
            <a:extLst>
              <a:ext uri="{FF2B5EF4-FFF2-40B4-BE49-F238E27FC236}">
                <a16:creationId xmlns:a16="http://schemas.microsoft.com/office/drawing/2014/main" id="{80E0418F-BDD1-025C-C6A6-4476E61CBB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02877" y="396241"/>
            <a:ext cx="8329407" cy="843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e classificazione T&amp;E-</a:t>
            </a:r>
            <a:r>
              <a:rPr lang="it-IT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depth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322;p35">
            <a:extLst>
              <a:ext uri="{FF2B5EF4-FFF2-40B4-BE49-F238E27FC236}">
                <a16:creationId xmlns:a16="http://schemas.microsoft.com/office/drawing/2014/main" id="{4E4C2B46-6EC2-07D9-26E2-33134B1E71E8}"/>
              </a:ext>
            </a:extLst>
          </p:cNvPr>
          <p:cNvSpPr txBox="1">
            <a:spLocks/>
          </p:cNvSpPr>
          <p:nvPr/>
        </p:nvSpPr>
        <p:spPr>
          <a:xfrm>
            <a:off x="678406" y="1007159"/>
            <a:ext cx="8329407" cy="365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lang="it-IT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📂 Dataset: Sudoku-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classif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(Denis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Berthier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Classificazione basata su criteri logico-inferenziali, non empirici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🧠 T&amp;E-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depth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Try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Error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depth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misura la profondità inferenziale necessaria per rendere il puzzle deterministico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T&amp;E(0): sola consistenza locale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T&amp;E(1–2): look-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ahead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catene logiche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T&amp;E(3): inferenze complesse (OR-relations, FLA)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Collezioni: Royle-17c (facili), eleven-TE2 (medie), mith-TE3 (difficili)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322;p35">
            <a:extLst>
              <a:ext uri="{FF2B5EF4-FFF2-40B4-BE49-F238E27FC236}">
                <a16:creationId xmlns:a16="http://schemas.microsoft.com/office/drawing/2014/main" id="{96011C73-2626-0E3F-DCD3-F027A14A2E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7296" y="565659"/>
            <a:ext cx="8329407" cy="10385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Solver testati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322;p35">
            <a:extLst>
              <a:ext uri="{FF2B5EF4-FFF2-40B4-BE49-F238E27FC236}">
                <a16:creationId xmlns:a16="http://schemas.microsoft.com/office/drawing/2014/main" id="{E29B9B05-35CD-4434-298B-6339178E193A}"/>
              </a:ext>
            </a:extLst>
          </p:cNvPr>
          <p:cNvSpPr txBox="1">
            <a:spLocks/>
          </p:cNvSpPr>
          <p:nvPr/>
        </p:nvSpPr>
        <p:spPr>
          <a:xfrm>
            <a:off x="1179656" y="1160345"/>
            <a:ext cx="6784687" cy="2822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algn="ctr"/>
            <a:endParaRPr lang="it-IT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🔧 Solver utilizzati nel confronto: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DLX (Python) –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 (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Exact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Cover)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Fast9r2 (C) – DLX ottimizzato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FSSS2 (C++) –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bitboard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SIMD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MiniZinc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Gecode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OR-Tools – modello CSP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OR-Tools nativo (CP-SAT)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sperimentale: 100 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run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 puzzle, tre livelli di difficoltà (T&amp;E 1–3), misura tempi medi di risoluzione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322;p35">
            <a:extLst>
              <a:ext uri="{FF2B5EF4-FFF2-40B4-BE49-F238E27FC236}">
                <a16:creationId xmlns:a16="http://schemas.microsoft.com/office/drawing/2014/main" id="{49507A94-2F5C-B7F2-27AF-9F774D325C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45283" y="286752"/>
            <a:ext cx="7718477" cy="7778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Risultati sperimentali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322;p35">
            <a:extLst>
              <a:ext uri="{FF2B5EF4-FFF2-40B4-BE49-F238E27FC236}">
                <a16:creationId xmlns:a16="http://schemas.microsoft.com/office/drawing/2014/main" id="{7ED282E6-D54C-9325-B1FF-9F659AA0E4EF}"/>
              </a:ext>
            </a:extLst>
          </p:cNvPr>
          <p:cNvSpPr txBox="1">
            <a:spLocks/>
          </p:cNvSpPr>
          <p:nvPr/>
        </p:nvSpPr>
        <p:spPr>
          <a:xfrm>
            <a:off x="564602" y="666831"/>
            <a:ext cx="7718477" cy="3412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lang="it-IT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Tempi medi di risoluzione (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DLX (Python): 7.04 / 92.87 / 58.99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Fast9r2: 15.44 / 13.27 / 11.34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FSSS2: 13.52 / 11.54 / 10.08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OR-Tools nativo: 9.50 / 24.85 / 19.88</a:t>
            </a:r>
          </a:p>
          <a:p>
            <a:pPr>
              <a:defRPr sz="2000"/>
            </a:pP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Gecode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1053.77 / 977.48 / 1085.02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OR-Tools (</a:t>
            </a:r>
            <a:r>
              <a:rPr lang="it-IT" sz="16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MiniZinc</a:t>
            </a: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1092.21 / 1214.49 / 3210.00</a:t>
            </a:r>
          </a:p>
          <a:p>
            <a:pPr>
              <a:defRPr sz="2000"/>
            </a:pPr>
            <a:r>
              <a:rPr lang="it-IT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puzzle T&amp;E(3) non sempre più lenti → vincoli più rigidi ⇒ meno combinazioni da esplorare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9499E1F-B1D8-61A6-9D2A-182161BBF804}"/>
              </a:ext>
            </a:extLst>
          </p:cNvPr>
          <p:cNvSpPr txBox="1"/>
          <p:nvPr/>
        </p:nvSpPr>
        <p:spPr>
          <a:xfrm>
            <a:off x="2633844" y="571267"/>
            <a:ext cx="37377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 comparativa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4C6DEAD-23FD-269E-7A55-BE31464AB582}"/>
              </a:ext>
            </a:extLst>
          </p:cNvPr>
          <p:cNvSpPr txBox="1"/>
          <p:nvPr/>
        </p:nvSpPr>
        <p:spPr>
          <a:xfrm>
            <a:off x="751541" y="1351507"/>
            <a:ext cx="7502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🔍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comparativa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 sz="200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DLX (Python):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buono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penalizzato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dall’interpretazione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Fast9r2 / FSSS2: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prestazioni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eccellenti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costanti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grazie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alle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ottimizzazioni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CSP (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MiniZinc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tempi alti, ma grande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portabilità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chiarezza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modellazione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OR-Tools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nativo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miglior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compromesso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velocità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generalità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000"/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Difficoltà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logico-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inferenziale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≠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difficoltà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computazionale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</Words>
  <Application>Microsoft Office PowerPoint</Application>
  <PresentationFormat>Presentazione su schermo (16:9)</PresentationFormat>
  <Paragraphs>61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Times New Roman</vt:lpstr>
      <vt:lpstr>PT Sans</vt:lpstr>
      <vt:lpstr>Arial</vt:lpstr>
      <vt:lpstr>Poppins</vt:lpstr>
      <vt:lpstr>Industrial Preliminary Project by Slidesgo</vt:lpstr>
      <vt:lpstr>ATTIVITA’ PROGETTUALE – FONDAMENTI DI INTELLIGENZA ARTIFICIALE </vt:lpstr>
      <vt:lpstr>Obiettivi del progetto</vt:lpstr>
      <vt:lpstr>Stato dell’arte e fondamenti teorici</vt:lpstr>
      <vt:lpstr>Dataset e classificazione T&amp;E-depth</vt:lpstr>
      <vt:lpstr>Solver testati</vt:lpstr>
      <vt:lpstr>Risultati sperimentali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marongiu</cp:lastModifiedBy>
  <cp:revision>15</cp:revision>
  <dcterms:modified xsi:type="dcterms:W3CDTF">2025-11-02T21:50:42Z</dcterms:modified>
</cp:coreProperties>
</file>