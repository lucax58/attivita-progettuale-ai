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  <p:embeddedFont>
      <p:font typeface="PT Sans" panose="020B0503020203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4309" userDrawn="1">
          <p15:clr>
            <a:srgbClr val="747775"/>
          </p15:clr>
        </p15:guide>
        <p15:guide id="4" pos="1451" userDrawn="1">
          <p15:clr>
            <a:srgbClr val="747775"/>
          </p15:clr>
        </p15:guide>
        <p15:guide id="5" orient="horz" pos="2482" userDrawn="1">
          <p15:clr>
            <a:srgbClr val="747775"/>
          </p15:clr>
        </p15:guide>
        <p15:guide id="6" orient="horz" pos="78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C564BB-C33D-4E2A-937F-36228857C545}">
  <a:tblStyle styleId="{E8C564BB-C33D-4E2A-937F-36228857C5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92436DE-1F3E-4417-BF4E-1D475336D1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585" autoAdjust="0"/>
  </p:normalViewPr>
  <p:slideViewPr>
    <p:cSldViewPr snapToGrid="0">
      <p:cViewPr varScale="1">
        <p:scale>
          <a:sx n="79" d="100"/>
          <a:sy n="79" d="100"/>
        </p:scale>
        <p:origin x="1570" y="67"/>
      </p:cViewPr>
      <p:guideLst>
        <p:guide orient="horz" pos="1620"/>
        <p:guide pos="2880"/>
        <p:guide pos="4309"/>
        <p:guide pos="1451"/>
        <p:guide orient="horz" pos="2482"/>
        <p:guide orient="horz" pos="7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0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0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08" name="Google Shape;208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" name="Google Shape;209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0" name="Google Shape;210;p20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11" name="Google Shape;211;p2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59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59063" y="1200307"/>
            <a:ext cx="7583505" cy="15252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ATTIVITA’ PROGETTUALE – FONDAMENTI DI INTELLIGENZA ARTIFICIALE 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840C7BFA-834F-874A-90AD-CF659F710CEC}"/>
              </a:ext>
            </a:extLst>
          </p:cNvPr>
          <p:cNvSpPr txBox="1"/>
          <p:nvPr/>
        </p:nvSpPr>
        <p:spPr>
          <a:xfrm>
            <a:off x="4162604" y="3180588"/>
            <a:ext cx="1793188" cy="243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sz="1200" kern="1200" dirty="0">
                <a:latin typeface="Times New Roman" panose="02020603050405020304" pitchFamily="18" charset="0"/>
                <a:ea typeface="Alegreya Sans"/>
                <a:cs typeface="Times New Roman" panose="02020603050405020304" pitchFamily="18" charset="0"/>
                <a:sym typeface="Alegreya Sans"/>
              </a:rPr>
              <a:t>Luca Marongiu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>
            <a:spLocks noGrp="1"/>
          </p:cNvSpPr>
          <p:nvPr>
            <p:ph type="title"/>
          </p:nvPr>
        </p:nvSpPr>
        <p:spPr>
          <a:xfrm>
            <a:off x="2083663" y="478153"/>
            <a:ext cx="4976674" cy="9779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Obiettivi del progetto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342;p36">
            <a:extLst>
              <a:ext uri="{FF2B5EF4-FFF2-40B4-BE49-F238E27FC236}">
                <a16:creationId xmlns:a16="http://schemas.microsoft.com/office/drawing/2014/main" id="{CE953934-E4DD-AAB5-B743-E5099B86A14A}"/>
              </a:ext>
            </a:extLst>
          </p:cNvPr>
          <p:cNvSpPr txBox="1">
            <a:spLocks/>
          </p:cNvSpPr>
          <p:nvPr/>
        </p:nvSpPr>
        <p:spPr>
          <a:xfrm>
            <a:off x="1967399" y="1239838"/>
            <a:ext cx="5610447" cy="35364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endParaRPr lang="en-US" sz="1100" dirty="0"/>
          </a:p>
          <a:p>
            <a:pPr>
              <a:buClr>
                <a:schemeClr val="dk1"/>
              </a:buClr>
              <a:buSzPts val="1100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confrontare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paradigmi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risoluzione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Sudoku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Domande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chiave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Clr>
                <a:schemeClr val="dk1"/>
              </a:buClr>
              <a:buSzPts val="11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it-IT" sz="1600" dirty="0"/>
              <a:t>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incidono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differenze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CSP, DLX e CP – SAT? </a:t>
            </a:r>
          </a:p>
          <a:p>
            <a:pPr>
              <a:buClr>
                <a:schemeClr val="dk1"/>
              </a:buClr>
              <a:buSzPts val="11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it-IT" sz="1600" dirty="0"/>
              <a:t>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difficolta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puzzle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corrisponde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difficoltà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computazionale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Clr>
                <a:schemeClr val="dk1"/>
              </a:buClr>
              <a:buSzPts val="11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it-IT" sz="1600" dirty="0"/>
              <a:t>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 solver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risultano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Clr>
                <a:schemeClr val="dk1"/>
              </a:buClr>
              <a:buSzPts val="1100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4">
              <a:buClr>
                <a:schemeClr val="dk1"/>
              </a:buClr>
              <a:buSzPts val="1100"/>
            </a:pPr>
            <a:endParaRPr lang="en-US" b="1" dirty="0"/>
          </a:p>
          <a:p>
            <a:pPr lvl="3">
              <a:buClr>
                <a:schemeClr val="dk1"/>
              </a:buClr>
              <a:buSzPts val="1100"/>
            </a:pPr>
            <a:r>
              <a:rPr lang="en-US" dirty="0"/>
              <a:t>	</a:t>
            </a:r>
          </a:p>
          <a:p>
            <a:pPr marL="285750" lvl="8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chemeClr val="dk1"/>
              </a:buClr>
              <a:buSzPts val="1100"/>
            </a:pPr>
            <a:r>
              <a:rPr lang="en-US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499832" y="351638"/>
            <a:ext cx="8144336" cy="1021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Stato dell’arte e fondamenti teorici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322;p35">
            <a:extLst>
              <a:ext uri="{FF2B5EF4-FFF2-40B4-BE49-F238E27FC236}">
                <a16:creationId xmlns:a16="http://schemas.microsoft.com/office/drawing/2014/main" id="{2B75E73D-9CCD-495E-D1C2-C7DC587D3118}"/>
              </a:ext>
            </a:extLst>
          </p:cNvPr>
          <p:cNvSpPr txBox="1">
            <a:spLocks/>
          </p:cNvSpPr>
          <p:nvPr/>
        </p:nvSpPr>
        <p:spPr>
          <a:xfrm>
            <a:off x="1921212" y="1079705"/>
            <a:ext cx="5301575" cy="286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Sudoku come problema di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(CSP):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Ogni cella è una variabile con dominio {1..9}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Vincoli: righe, colonne e box 3×3</a:t>
            </a:r>
          </a:p>
          <a:p>
            <a:pPr>
              <a:defRPr sz="2000"/>
            </a:pPr>
            <a:endParaRPr lang="it-IT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📖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Pelánek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(2014): la difficoltà dipende dalle scelte non deterministiche, non dal numero di celle vuote</a:t>
            </a:r>
          </a:p>
          <a:p>
            <a:pPr>
              <a:defRPr sz="2000"/>
            </a:pPr>
            <a:endParaRPr lang="it-IT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🔢 McGuire et al. (2012): minimo 17 indizi per un Sudoku con soluzione unica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2;p35">
            <a:extLst>
              <a:ext uri="{FF2B5EF4-FFF2-40B4-BE49-F238E27FC236}">
                <a16:creationId xmlns:a16="http://schemas.microsoft.com/office/drawing/2014/main" id="{80E0418F-BDD1-025C-C6A6-4476E61CB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2877" y="396241"/>
            <a:ext cx="8329407" cy="8435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 classificazione T&amp;E-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322;p35">
            <a:extLst>
              <a:ext uri="{FF2B5EF4-FFF2-40B4-BE49-F238E27FC236}">
                <a16:creationId xmlns:a16="http://schemas.microsoft.com/office/drawing/2014/main" id="{4E4C2B46-6EC2-07D9-26E2-33134B1E71E8}"/>
              </a:ext>
            </a:extLst>
          </p:cNvPr>
          <p:cNvSpPr txBox="1">
            <a:spLocks/>
          </p:cNvSpPr>
          <p:nvPr/>
        </p:nvSpPr>
        <p:spPr>
          <a:xfrm>
            <a:off x="678406" y="1007159"/>
            <a:ext cx="8329407" cy="365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Dataset: Sudoku-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(Denis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Berthier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Classificazione basata su criteri logico-inferenziali, non empirici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T&amp;E-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misura la profondità inferenziale necessaria per rendere il puzzle deterministico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T&amp;E(0): sola consistenza locale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T&amp;E(1–2): look-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ahead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catene logiche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T&amp;E(3): inferenze complesse (OR-relations, FLA)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Collezioni: Royle-17c (facili), eleven-TE2 (medie), mith-TE3 (difficili)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22;p35">
            <a:extLst>
              <a:ext uri="{FF2B5EF4-FFF2-40B4-BE49-F238E27FC236}">
                <a16:creationId xmlns:a16="http://schemas.microsoft.com/office/drawing/2014/main" id="{96011C73-2626-0E3F-DCD3-F027A14A2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296" y="565659"/>
            <a:ext cx="8329407" cy="1038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 testati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322;p35">
            <a:extLst>
              <a:ext uri="{FF2B5EF4-FFF2-40B4-BE49-F238E27FC236}">
                <a16:creationId xmlns:a16="http://schemas.microsoft.com/office/drawing/2014/main" id="{E29B9B05-35CD-4434-298B-6339178E193A}"/>
              </a:ext>
            </a:extLst>
          </p:cNvPr>
          <p:cNvSpPr txBox="1">
            <a:spLocks/>
          </p:cNvSpPr>
          <p:nvPr/>
        </p:nvSpPr>
        <p:spPr>
          <a:xfrm>
            <a:off x="1179656" y="1160345"/>
            <a:ext cx="6784687" cy="282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endParaRPr lang="it-IT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🔧 Solver utilizzati nel confronto: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DLX (Python) –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(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Exact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Cover)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Fast9r2 (C) – DLX ottimizzato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FSSS2 (C++) –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bitboard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SIMD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MiniZinc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Gecode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OR-Tools – modello CSP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OR-Tools nativo (CP-SAT)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sperimentale: 100 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puzzle, tre livelli di difficoltà (T&amp;E 1–3), misura tempi medi di risoluzione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22;p35">
            <a:extLst>
              <a:ext uri="{FF2B5EF4-FFF2-40B4-BE49-F238E27FC236}">
                <a16:creationId xmlns:a16="http://schemas.microsoft.com/office/drawing/2014/main" id="{49507A94-2F5C-B7F2-27AF-9F774D325C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5283" y="286752"/>
            <a:ext cx="7718477" cy="777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Risultati sperimentali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322;p35">
            <a:extLst>
              <a:ext uri="{FF2B5EF4-FFF2-40B4-BE49-F238E27FC236}">
                <a16:creationId xmlns:a16="http://schemas.microsoft.com/office/drawing/2014/main" id="{7ED282E6-D54C-9325-B1FF-9F659AA0E4EF}"/>
              </a:ext>
            </a:extLst>
          </p:cNvPr>
          <p:cNvSpPr txBox="1">
            <a:spLocks/>
          </p:cNvSpPr>
          <p:nvPr/>
        </p:nvSpPr>
        <p:spPr>
          <a:xfrm>
            <a:off x="564602" y="666831"/>
            <a:ext cx="7718477" cy="34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Tempi medi di risoluzione (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DLX (Python): 7.04 / 92.87 / 58.99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Fast9r2: 15.44 / 13.27 / 11.34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FSSS2: 13.52 / 11.54 / 10.08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OR-Tools nativo: 9.50 / 24.85 / 19.88</a:t>
            </a:r>
          </a:p>
          <a:p>
            <a:pPr>
              <a:defRPr sz="2000"/>
            </a:pP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Gecode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1053.77 / 977.48 / 1085.02</a:t>
            </a:r>
          </a:p>
          <a:p>
            <a:pPr>
              <a:defRPr sz="2000"/>
            </a:pP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OR-Tools (</a:t>
            </a:r>
            <a:r>
              <a:rPr lang="it-IT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MiniZinc</a:t>
            </a:r>
            <a:r>
              <a:rPr lang="it-IT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1092.21 / 1214.49 </a:t>
            </a:r>
            <a:r>
              <a:rPr lang="it-IT"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/ 3210.00</a:t>
            </a:r>
            <a:endParaRPr lang="it-IT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9499E1F-B1D8-61A6-9D2A-182161BBF804}"/>
              </a:ext>
            </a:extLst>
          </p:cNvPr>
          <p:cNvSpPr txBox="1"/>
          <p:nvPr/>
        </p:nvSpPr>
        <p:spPr>
          <a:xfrm>
            <a:off x="2633844" y="571267"/>
            <a:ext cx="37377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Analisi comparativa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C6DEAD-23FD-269E-7A55-BE31464AB582}"/>
              </a:ext>
            </a:extLst>
          </p:cNvPr>
          <p:cNvSpPr txBox="1"/>
          <p:nvPr/>
        </p:nvSpPr>
        <p:spPr>
          <a:xfrm>
            <a:off x="751541" y="1351507"/>
            <a:ext cx="7502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comparativa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 sz="20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DLX (Python):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buono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penalizzato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dall’interpretazione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Fast9r2 / FSSS2: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prestazioni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eccellenti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costanti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grazie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ottimizzazioni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CSP (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MiniZinc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tempi alti, ma grande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portabilità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chiarezza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modellazione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OR-Tools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nativo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miglior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compromesso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velocità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generalità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Difficoltà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logico-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inferenziale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difficoltà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computazionale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Presentazione su schermo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PT Sans</vt:lpstr>
      <vt:lpstr>Arial</vt:lpstr>
      <vt:lpstr>Poppins</vt:lpstr>
      <vt:lpstr>Times New Roman</vt:lpstr>
      <vt:lpstr>Industrial Preliminary Project by Slidesgo</vt:lpstr>
      <vt:lpstr>ATTIVITA’ PROGETTUALE – FONDAMENTI DI INTELLIGENZA ARTIFICIALE </vt:lpstr>
      <vt:lpstr>Obiettivi del progetto</vt:lpstr>
      <vt:lpstr>Stato dell’arte e fondamenti teorici</vt:lpstr>
      <vt:lpstr>Dataset e classificazione T&amp;E-depth</vt:lpstr>
      <vt:lpstr>Solver testati</vt:lpstr>
      <vt:lpstr>Risultati sperimentali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 marongiu</cp:lastModifiedBy>
  <cp:revision>16</cp:revision>
  <dcterms:modified xsi:type="dcterms:W3CDTF">2025-11-03T11:43:59Z</dcterms:modified>
</cp:coreProperties>
</file>